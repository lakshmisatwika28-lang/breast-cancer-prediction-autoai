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83" r:id="rId2"/>
    <p:sldId id="257" r:id="rId3"/>
    <p:sldId id="282" r:id="rId4"/>
    <p:sldId id="285" r:id="rId5"/>
    <p:sldId id="292" r:id="rId6"/>
    <p:sldId id="278" r:id="rId7"/>
    <p:sldId id="293" r:id="rId8"/>
    <p:sldId id="279" r:id="rId9"/>
    <p:sldId id="312" r:id="rId10"/>
    <p:sldId id="262" r:id="rId11"/>
    <p:sldId id="290" r:id="rId12"/>
    <p:sldId id="291" r:id="rId13"/>
    <p:sldId id="294" r:id="rId14"/>
    <p:sldId id="295" r:id="rId15"/>
    <p:sldId id="314" r:id="rId16"/>
    <p:sldId id="315" r:id="rId17"/>
    <p:sldId id="313" r:id="rId18"/>
    <p:sldId id="296" r:id="rId19"/>
    <p:sldId id="297" r:id="rId20"/>
    <p:sldId id="298" r:id="rId21"/>
    <p:sldId id="299" r:id="rId22"/>
    <p:sldId id="300" r:id="rId23"/>
    <p:sldId id="301" r:id="rId24"/>
    <p:sldId id="302" r:id="rId25"/>
    <p:sldId id="303" r:id="rId26"/>
    <p:sldId id="304" r:id="rId27"/>
    <p:sldId id="305" r:id="rId28"/>
    <p:sldId id="306" r:id="rId29"/>
    <p:sldId id="286" r:id="rId30"/>
    <p:sldId id="287" r:id="rId31"/>
    <p:sldId id="280" r:id="rId32"/>
    <p:sldId id="307" r:id="rId33"/>
    <p:sldId id="288" r:id="rId34"/>
    <p:sldId id="308" r:id="rId35"/>
    <p:sldId id="309" r:id="rId36"/>
    <p:sldId id="310" r:id="rId37"/>
    <p:sldId id="311" r:id="rId38"/>
    <p:sldId id="289" r:id="rId39"/>
    <p:sldId id="276"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6C625E-2413-4F67-B82F-E0F3B81560BA}" v="47" dt="2026-07-06T12:35:19.838"/>
    <p1510:client id="{D917197F-09A5-4C68-89F6-E42E23B3C25E}" v="110" dt="2026-07-08T12:28:23.57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s://au-syd.ml.cloud.ibm.com"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lakshmisatwika28-lang/Breast-Cancer-Prediction-AutoAI.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45848210"/>
              </p:ext>
            </p:extLst>
          </p:nvPr>
        </p:nvGraphicFramePr>
        <p:xfrm>
          <a:off x="1299257" y="2600315"/>
          <a:ext cx="9394986" cy="283274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22477">
                  <a:extLst>
                    <a:ext uri="{9D8B030D-6E8A-4147-A177-3AD203B41FA5}">
                      <a16:colId xmlns:a16="http://schemas.microsoft.com/office/drawing/2014/main" val="20002"/>
                    </a:ext>
                  </a:extLst>
                </a:gridCol>
                <a:gridCol w="2558955">
                  <a:extLst>
                    <a:ext uri="{9D8B030D-6E8A-4147-A177-3AD203B41FA5}">
                      <a16:colId xmlns:a16="http://schemas.microsoft.com/office/drawing/2014/main" val="20003"/>
                    </a:ext>
                  </a:extLst>
                </a:gridCol>
                <a:gridCol w="2348687">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859507">
                <a:tc>
                  <a:txBody>
                    <a:bodyPr/>
                    <a:lstStyle/>
                    <a:p>
                      <a:pPr marL="0" marR="0" lvl="0" indent="0" algn="l" rtl="0">
                        <a:spcBef>
                          <a:spcPts val="0"/>
                        </a:spcBef>
                        <a:spcAft>
                          <a:spcPts val="0"/>
                        </a:spcAft>
                        <a:buNone/>
                      </a:pPr>
                      <a:r>
                        <a:rPr lang="en-US"/>
                        <a:t>Ande Lakshmi Satwika</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lakshmisatwika28@gmail.com</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8639133564</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lIns="91440" tIns="45720" rIns="91440" bIns="45720" rtlCol="0" anchor="t">
            <a:spAutoFit/>
          </a:bodyPr>
          <a:lstStyle/>
          <a:p>
            <a:r>
              <a:rPr lang="en-US" sz="2400" b="1"/>
              <a:t>Domain of  Project – </a:t>
            </a:r>
            <a:r>
              <a:rPr lang="en-US" sz="2400" b="1">
                <a:highlight>
                  <a:srgbClr val="FFFF00"/>
                </a:highlight>
              </a:rPr>
              <a:t>[ Healthcare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lIns="91440" tIns="45720" rIns="91440" bIns="45720" rtlCol="0" anchor="t">
            <a:spAutoFit/>
          </a:bodyPr>
          <a:lstStyle/>
          <a:p>
            <a:r>
              <a:rPr lang="en-US" sz="2400" b="1"/>
              <a:t>Project Tile – </a:t>
            </a:r>
            <a:r>
              <a:rPr lang="en-US" sz="2400" b="1">
                <a:highlight>
                  <a:srgbClr val="FFFF00"/>
                </a:highlight>
              </a:rPr>
              <a:t>[</a:t>
            </a:r>
            <a:r>
              <a:rPr lang="en-US" sz="2400" b="1" err="1">
                <a:highlight>
                  <a:srgbClr val="FFFF00"/>
                </a:highlight>
              </a:rPr>
              <a:t>BreastCare</a:t>
            </a:r>
            <a:r>
              <a:rPr lang="en-US" sz="2400" b="1">
                <a:highlight>
                  <a:srgbClr val="FFFF00"/>
                </a:highlight>
              </a:rPr>
              <a:t> AI : Breast Cancer Prediction AI]</a:t>
            </a:r>
            <a:endParaRPr lang="en-IN" sz="2400" b="1">
              <a:highlight>
                <a:srgbClr val="FFFF00"/>
              </a:highlight>
            </a:endParaRPr>
          </a:p>
        </p:txBody>
      </p:sp>
      <p:pic>
        <p:nvPicPr>
          <p:cNvPr id="2" name="Picture 1" descr="A person smiling at camera&#10;&#10;AI-generated content may be incorrect.">
            <a:extLst>
              <a:ext uri="{FF2B5EF4-FFF2-40B4-BE49-F238E27FC236}">
                <a16:creationId xmlns:a16="http://schemas.microsoft.com/office/drawing/2014/main" id="{AD907E03-FE91-7E66-4322-2F0E52BC49F9}"/>
              </a:ext>
            </a:extLst>
          </p:cNvPr>
          <p:cNvPicPr>
            <a:picLocks noChangeAspect="1"/>
          </p:cNvPicPr>
          <p:nvPr/>
        </p:nvPicPr>
        <p:blipFill>
          <a:blip r:embed="rId3"/>
          <a:stretch>
            <a:fillRect/>
          </a:stretch>
        </p:blipFill>
        <p:spPr>
          <a:xfrm>
            <a:off x="3857172" y="3759201"/>
            <a:ext cx="1524000" cy="15312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14494" y="1329103"/>
            <a:ext cx="11357834" cy="4190314"/>
          </a:xfrm>
          <a:prstGeom prst="rect">
            <a:avLst/>
          </a:prstGeom>
          <a:noFill/>
        </p:spPr>
        <p:txBody>
          <a:bodyPr wrap="square" lIns="91440" tIns="45720" rIns="91440" bIns="45720" rtlCol="0" anchor="t">
            <a:spAutoFit/>
          </a:bodyPr>
          <a:lstStyle/>
          <a:p>
            <a:pPr fontAlgn="base">
              <a:lnSpc>
                <a:spcPct val="150000"/>
              </a:lnSpc>
            </a:pPr>
            <a:r>
              <a:rPr lang="en-US" sz="2000"/>
              <a:t>Breast cancer is one of the most common cancers affecting women worldwide and remains a major cause of cancer-related deaths. Early detection is critical for improving treatment outcomes and increasing survival rates. However, accurately diagnosing breast cancer requires the analysis of multiple diagnostic features, making the process complex and time-consuming. </a:t>
            </a:r>
            <a:endParaRPr lang="en-IN" sz="2000"/>
          </a:p>
          <a:p>
            <a:pPr>
              <a:lnSpc>
                <a:spcPct val="150000"/>
              </a:lnSpc>
            </a:pPr>
            <a:endParaRPr lang="en-US" sz="2000"/>
          </a:p>
          <a:p>
            <a:pPr>
              <a:lnSpc>
                <a:spcPct val="150000"/>
              </a:lnSpc>
            </a:pPr>
            <a:r>
              <a:rPr lang="en-US" sz="2000"/>
              <a:t>Delays in diagnosis or incorrect classification of tumors can affect timely medical intervention and patient care. Therefore, there is a growing need for an intelligent system that can assist healthcare professionals in analyzing diagnostic data and accurately classifying breast tumors as </a:t>
            </a:r>
            <a:r>
              <a:rPr lang="en-US" sz="2000" b="1"/>
              <a:t>Benign</a:t>
            </a:r>
            <a:r>
              <a:rPr lang="en-US" sz="2000"/>
              <a:t> or </a:t>
            </a:r>
            <a:r>
              <a:rPr lang="en-US" sz="2000" b="1"/>
              <a:t>Malignant</a:t>
            </a:r>
            <a:r>
              <a:rPr lang="en-US" sz="2000"/>
              <a:t>, enabling faster, more reliable, and data-driven clinical decision-making.</a:t>
            </a:r>
            <a:endParaRPr lang="en-IN" sz="200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1137" y="819877"/>
            <a:ext cx="11131336" cy="6036974"/>
          </a:xfrm>
          <a:prstGeom prst="rect">
            <a:avLst/>
          </a:prstGeom>
          <a:noFill/>
        </p:spPr>
        <p:txBody>
          <a:bodyPr wrap="square" lIns="91440" tIns="45720" rIns="91440" bIns="45720" rtlCol="0" anchor="t">
            <a:spAutoFit/>
          </a:bodyPr>
          <a:lstStyle/>
          <a:p>
            <a:pPr fontAlgn="base">
              <a:lnSpc>
                <a:spcPct val="150000"/>
              </a:lnSpc>
            </a:pPr>
            <a:r>
              <a:rPr lang="en-US" sz="2000" b="1"/>
              <a:t> (IBM watsonx.ai Studio – </a:t>
            </a:r>
            <a:r>
              <a:rPr lang="en-US" sz="2000" b="1" err="1"/>
              <a:t>AutoAI</a:t>
            </a:r>
            <a:r>
              <a:rPr lang="en-US" sz="2000" b="1"/>
              <a:t>):</a:t>
            </a:r>
            <a:endParaRPr lang="en-US" b="1"/>
          </a:p>
          <a:p>
            <a:pPr>
              <a:lnSpc>
                <a:spcPct val="150000"/>
              </a:lnSpc>
            </a:pPr>
            <a:r>
              <a:rPr lang="en-US" sz="2000"/>
              <a:t>We propose an AI-powered Breast Cancer Prediction System using </a:t>
            </a:r>
            <a:r>
              <a:rPr lang="en-US" sz="2000" b="1"/>
              <a:t>IBM watsonx.ai Studio,</a:t>
            </a:r>
            <a:r>
              <a:rPr lang="en-US" sz="2000"/>
              <a:t> </a:t>
            </a:r>
            <a:r>
              <a:rPr lang="en-US" sz="2000" b="1" err="1"/>
              <a:t>AutoAI</a:t>
            </a:r>
            <a:r>
              <a:rPr lang="en-US" sz="2000" b="1"/>
              <a:t> </a:t>
            </a:r>
            <a:r>
              <a:rPr lang="en-US" sz="2000"/>
              <a:t>and</a:t>
            </a:r>
            <a:r>
              <a:rPr lang="en-US" sz="2000" b="1"/>
              <a:t> IBM Bob</a:t>
            </a:r>
            <a:r>
              <a:rPr lang="en-US" sz="2000"/>
              <a:t>.</a:t>
            </a:r>
            <a:endParaRPr lang="en-US"/>
          </a:p>
          <a:p>
            <a:pPr>
              <a:lnSpc>
                <a:spcPct val="150000"/>
              </a:lnSpc>
            </a:pPr>
            <a:r>
              <a:rPr lang="en-US" sz="2000"/>
              <a:t>The </a:t>
            </a:r>
            <a:r>
              <a:rPr lang="en-US" sz="2000" b="1"/>
              <a:t>Breast Cancer Wisconsin Diagnostic Dataset</a:t>
            </a:r>
            <a:r>
              <a:rPr lang="en-US" sz="2000"/>
              <a:t> is uploaded to </a:t>
            </a:r>
            <a:r>
              <a:rPr lang="en-US" sz="2000" b="1"/>
              <a:t>IBM Cloud</a:t>
            </a:r>
            <a:r>
              <a:rPr lang="en-US" sz="2000"/>
              <a:t>, where </a:t>
            </a:r>
            <a:r>
              <a:rPr lang="en-US" sz="2000" b="1"/>
              <a:t>IBM </a:t>
            </a:r>
            <a:r>
              <a:rPr lang="en-US" sz="2000" b="1" err="1"/>
              <a:t>AutoAI</a:t>
            </a:r>
            <a:r>
              <a:rPr lang="en-US" sz="2000"/>
              <a:t> automatically performs data preprocessing, feature engineering, model selection, and hyperparameter optimization. Multiple machine learning models are trained and evaluated to identify the best-performing model for accurate breast cancer prediction.</a:t>
            </a:r>
            <a:endParaRPr lang="en-US"/>
          </a:p>
          <a:p>
            <a:pPr>
              <a:lnSpc>
                <a:spcPct val="150000"/>
              </a:lnSpc>
            </a:pPr>
            <a:r>
              <a:rPr lang="en-US" sz="2000"/>
              <a:t>The selected model is then deployed and integrated into a responsive web application generated using </a:t>
            </a:r>
            <a:r>
              <a:rPr lang="en-US" sz="2000" b="1"/>
              <a:t>IBM </a:t>
            </a:r>
            <a:r>
              <a:rPr lang="en-US" sz="2000" b="1" err="1"/>
              <a:t>watsonx</a:t>
            </a:r>
            <a:r>
              <a:rPr lang="en-US" sz="2000" b="1"/>
              <a:t> </a:t>
            </a:r>
            <a:r>
              <a:rPr lang="en-US" sz="2000" b="1" err="1"/>
              <a:t>BoB</a:t>
            </a:r>
            <a:r>
              <a:rPr lang="en-US" sz="2000"/>
              <a:t>. Users can enter diagnostic parameters through an intuitive interface to receive </a:t>
            </a:r>
            <a:r>
              <a:rPr lang="en-US" sz="2000" b="1"/>
              <a:t>real-time predictions</a:t>
            </a:r>
            <a:r>
              <a:rPr lang="en-US" sz="2000"/>
              <a:t> indicating whether a tumor is </a:t>
            </a:r>
            <a:r>
              <a:rPr lang="en-US" sz="2000" b="1"/>
              <a:t>Benign</a:t>
            </a:r>
            <a:r>
              <a:rPr lang="en-US" sz="2000"/>
              <a:t> or </a:t>
            </a:r>
            <a:r>
              <a:rPr lang="en-US" sz="2000" b="1"/>
              <a:t>Malignant</a:t>
            </a:r>
            <a:r>
              <a:rPr lang="en-US" sz="2000"/>
              <a:t>, along with confidence scores.</a:t>
            </a:r>
          </a:p>
          <a:p>
            <a:pPr>
              <a:lnSpc>
                <a:spcPct val="150000"/>
              </a:lnSpc>
            </a:pPr>
            <a:r>
              <a:rPr lang="en-US" sz="2000"/>
              <a:t>.</a:t>
            </a:r>
            <a:br>
              <a:rPr lang="en-US" sz="2000"/>
            </a:br>
            <a:r>
              <a:rPr lang="en-US" sz="2000"/>
              <a:t> </a:t>
            </a:r>
            <a:endParaRPr lang="en-US"/>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FF9294-D395-A99C-406C-A9391DA4AABB}"/>
              </a:ext>
            </a:extLst>
          </p:cNvPr>
          <p:cNvSpPr txBox="1"/>
          <p:nvPr/>
        </p:nvSpPr>
        <p:spPr>
          <a:xfrm>
            <a:off x="733909" y="665638"/>
            <a:ext cx="10769692" cy="1881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a:t>The application also includes interactive data visualizations, prediction history, educational information on breast cancer, prevention guidelines, and risk factor awareness, making it an informative and user-friendly healthcare platform that supports early detection and informed decision-making.</a:t>
            </a:r>
            <a:endParaRPr lang="en-US"/>
          </a:p>
        </p:txBody>
      </p:sp>
    </p:spTree>
    <p:extLst>
      <p:ext uri="{BB962C8B-B14F-4D97-AF65-F5344CB8AC3E}">
        <p14:creationId xmlns:p14="http://schemas.microsoft.com/office/powerpoint/2010/main" val="237921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38493"/>
            <a:ext cx="10515600" cy="7078861"/>
          </a:xfrm>
          <a:prstGeom prst="rect">
            <a:avLst/>
          </a:prstGeom>
          <a:noFill/>
        </p:spPr>
        <p:txBody>
          <a:bodyPr wrap="square" lIns="91440" tIns="45720" rIns="91440" bIns="45720" rtlCol="0" anchor="t">
            <a:spAutoFit/>
          </a:bodyPr>
          <a:lstStyle/>
          <a:p>
            <a:endParaRPr lang="en-US" sz="1800"/>
          </a:p>
          <a:p>
            <a:pPr marL="285750" indent="-285750">
              <a:lnSpc>
                <a:spcPct val="150000"/>
              </a:lnSpc>
              <a:buFont typeface="Arial" panose="020B0604020202020204" pitchFamily="34" charset="0"/>
              <a:buChar char="•"/>
            </a:pPr>
            <a:r>
              <a:rPr lang="en-US" sz="2000" b="1"/>
              <a:t>IBM Cloud </a:t>
            </a:r>
            <a:r>
              <a:rPr lang="en-US" sz="2000"/>
              <a:t>– IBM Cloud served as the primary cloud platform for developing and managing the project. It was used to upload the Breast Cancer Wisconsin Diagnostic Dataset, create AI resources, and securely deploy the trained machine learning model, providing a scalable and reliable environment for the application.</a:t>
            </a:r>
          </a:p>
          <a:p>
            <a:pPr marL="285750" indent="-285750">
              <a:lnSpc>
                <a:spcPct val="150000"/>
              </a:lnSpc>
              <a:buFont typeface="Arial" panose="020B0604020202020204" pitchFamily="34" charset="0"/>
              <a:buChar char="•"/>
            </a:pPr>
            <a:r>
              <a:rPr lang="en-US" sz="2000" b="1"/>
              <a:t>IBM watsonx.ai Studio: </a:t>
            </a:r>
            <a:r>
              <a:rPr lang="en-US" sz="2000" b="1" err="1"/>
              <a:t>AutoAI</a:t>
            </a:r>
            <a:r>
              <a:rPr lang="en-US" sz="2000"/>
              <a:t> -- IBM </a:t>
            </a:r>
            <a:r>
              <a:rPr lang="en-US" sz="2000" err="1"/>
              <a:t>AutoAI</a:t>
            </a:r>
            <a:r>
              <a:rPr lang="en-US" sz="2000"/>
              <a:t> automated the complete machine learning workflow by performing data preprocessing, feature engineering, algorithm selection, model training, evaluation, and hyperparameter optimization. It generated multiple machine learning pipelines and selected the best-performing model for accurate breast cancer prediction.</a:t>
            </a:r>
          </a:p>
          <a:p>
            <a:pPr marL="285750" indent="-285750">
              <a:lnSpc>
                <a:spcPct val="150000"/>
              </a:lnSpc>
              <a:buFont typeface="Arial" panose="020B0604020202020204" pitchFamily="34" charset="0"/>
              <a:buChar char="•"/>
            </a:pPr>
            <a:r>
              <a:rPr lang="en-US" sz="2000" b="1"/>
              <a:t>IBM Bob</a:t>
            </a:r>
            <a:r>
              <a:rPr lang="en-US" sz="2000"/>
              <a:t> -- IBM </a:t>
            </a:r>
            <a:r>
              <a:rPr lang="en-US" sz="2000" err="1"/>
              <a:t>BoB</a:t>
            </a:r>
            <a:r>
              <a:rPr lang="en-US" sz="2000"/>
              <a:t> was used to generate the complete web application, including both the frontend and backend. It seamlessly integrated the trained machine learning model </a:t>
            </a:r>
          </a:p>
          <a:p>
            <a:pPr marL="285750" indent="-285750">
              <a:lnSpc>
                <a:spcPct val="150000"/>
              </a:lnSpc>
              <a:buFont typeface="Arial" panose="020B0604020202020204" pitchFamily="34" charset="0"/>
              <a:buChar char="•"/>
            </a:pPr>
            <a:endParaRPr lang="en-US" sz="2000"/>
          </a:p>
          <a:p>
            <a:pPr marL="285750" indent="-285750">
              <a:lnSpc>
                <a:spcPct val="150000"/>
              </a:lnSpc>
              <a:buFont typeface="Arial" panose="020B0604020202020204" pitchFamily="34" charset="0"/>
              <a:buChar char="•"/>
            </a:pPr>
            <a:endParaRPr lang="en-US" sz="20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96E3FD-329E-A3BB-7F45-EE752116E6D2}"/>
              </a:ext>
            </a:extLst>
          </p:cNvPr>
          <p:cNvSpPr txBox="1"/>
          <p:nvPr/>
        </p:nvSpPr>
        <p:spPr>
          <a:xfrm>
            <a:off x="426691" y="443759"/>
            <a:ext cx="11346115" cy="4498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0" i="0" u="none" strike="noStrike" baseline="0">
                <a:solidFill>
                  <a:srgbClr val="000000"/>
                </a:solidFill>
                <a:latin typeface="Arial"/>
                <a:ea typeface="Arial"/>
                <a:cs typeface="Arial"/>
              </a:rPr>
              <a:t>into a modern, responsive interface, enabling users to interact with the AI system through an intuitive dashboard.​</a:t>
            </a:r>
          </a:p>
          <a:p>
            <a:pPr>
              <a:lnSpc>
                <a:spcPct val="150000"/>
              </a:lnSpc>
            </a:pPr>
            <a:endParaRPr lang="en-US" sz="2000"/>
          </a:p>
          <a:p>
            <a:pPr>
              <a:lnSpc>
                <a:spcPct val="150000"/>
              </a:lnSpc>
            </a:pPr>
            <a:r>
              <a:rPr lang="en-US" sz="2000" b="1" dirty="0"/>
              <a:t>ML Algorithm/ Model Used</a:t>
            </a:r>
            <a:r>
              <a:rPr lang="en-US" sz="2000" dirty="0"/>
              <a:t>: Snap Logistic Regression (</a:t>
            </a:r>
            <a:r>
              <a:rPr lang="en-US" sz="2000" dirty="0" err="1"/>
              <a:t>AutoAI</a:t>
            </a:r>
            <a:r>
              <a:rPr lang="en-US" sz="2000" dirty="0"/>
              <a:t> Best Pipeline – P8)</a:t>
            </a:r>
          </a:p>
          <a:p>
            <a:pPr>
              <a:lnSpc>
                <a:spcPct val="150000"/>
              </a:lnSpc>
            </a:pPr>
            <a:r>
              <a:rPr lang="en-US" sz="2000" b="1"/>
              <a:t>Accuracy Obtained</a:t>
            </a:r>
            <a:r>
              <a:rPr lang="en-US" sz="2000"/>
              <a:t>: 98.4%</a:t>
            </a:r>
          </a:p>
          <a:p>
            <a:pPr>
              <a:lnSpc>
                <a:spcPct val="150000"/>
              </a:lnSpc>
            </a:pPr>
            <a:r>
              <a:rPr lang="en-US" sz="2000" b="1"/>
              <a:t>Enhancements and Hyperparameter Tuning</a:t>
            </a:r>
            <a:r>
              <a:rPr lang="en-US" sz="2000"/>
              <a:t>: </a:t>
            </a:r>
          </a:p>
          <a:p>
            <a:pPr marL="285750" indent="-285750">
              <a:buChar char="•"/>
            </a:pPr>
            <a:r>
              <a:rPr lang="en-US" sz="2000"/>
              <a:t>Automatic Feature Engineering (FE) </a:t>
            </a:r>
            <a:endParaRPr lang="en-US"/>
          </a:p>
          <a:p>
            <a:pPr marL="285750" indent="-285750">
              <a:buChar char="•"/>
            </a:pPr>
            <a:r>
              <a:rPr lang="en-US" sz="2000"/>
              <a:t>Hyperparameter Optimization (HPO-1) </a:t>
            </a:r>
            <a:endParaRPr lang="en-US"/>
          </a:p>
          <a:p>
            <a:pPr marL="285750" indent="-285750">
              <a:buChar char="•"/>
            </a:pPr>
            <a:r>
              <a:rPr lang="en-US" sz="2000"/>
              <a:t>Hyperparameter Optimization (HPO-2) </a:t>
            </a:r>
            <a:endParaRPr lang="en-US"/>
          </a:p>
          <a:p>
            <a:pPr marL="285750" indent="-285750">
              <a:buChar char="•"/>
            </a:pPr>
            <a:r>
              <a:rPr lang="en-US" sz="2000"/>
              <a:t>Automated Model Selection using IBM watsonx.ai </a:t>
            </a:r>
            <a:r>
              <a:rPr lang="en-US" sz="2000" err="1"/>
              <a:t>AutoAI</a:t>
            </a:r>
            <a:endParaRPr lang="en-US" err="1"/>
          </a:p>
          <a:p>
            <a:pPr>
              <a:lnSpc>
                <a:spcPct val="150000"/>
              </a:lnSpc>
            </a:pPr>
            <a:endParaRPr lang="en-US" sz="2000" dirty="0"/>
          </a:p>
        </p:txBody>
      </p:sp>
    </p:spTree>
    <p:extLst>
      <p:ext uri="{BB962C8B-B14F-4D97-AF65-F5344CB8AC3E}">
        <p14:creationId xmlns:p14="http://schemas.microsoft.com/office/powerpoint/2010/main" val="1716762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3" name="Picture 2" descr="A screenshot of a computer screen&#10;&#10;AI-generated content may be incorrect.">
            <a:extLst>
              <a:ext uri="{FF2B5EF4-FFF2-40B4-BE49-F238E27FC236}">
                <a16:creationId xmlns:a16="http://schemas.microsoft.com/office/drawing/2014/main" id="{4FF6306A-BBEA-BBF1-22DD-619FE467EF9A}"/>
              </a:ext>
            </a:extLst>
          </p:cNvPr>
          <p:cNvPicPr>
            <a:picLocks noChangeAspect="1"/>
          </p:cNvPicPr>
          <p:nvPr/>
        </p:nvPicPr>
        <p:blipFill>
          <a:blip r:embed="rId3"/>
          <a:stretch>
            <a:fillRect/>
          </a:stretch>
        </p:blipFill>
        <p:spPr>
          <a:xfrm>
            <a:off x="551542" y="978625"/>
            <a:ext cx="11088915" cy="544503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process&#10;&#10;AI-generated content may be incorrect.">
            <a:extLst>
              <a:ext uri="{FF2B5EF4-FFF2-40B4-BE49-F238E27FC236}">
                <a16:creationId xmlns:a16="http://schemas.microsoft.com/office/drawing/2014/main" id="{72F365B8-9EA8-3F35-DE28-F7A45AFCB0D9}"/>
              </a:ext>
            </a:extLst>
          </p:cNvPr>
          <p:cNvPicPr>
            <a:picLocks noChangeAspect="1"/>
          </p:cNvPicPr>
          <p:nvPr/>
        </p:nvPicPr>
        <p:blipFill>
          <a:blip r:embed="rId2"/>
          <a:stretch>
            <a:fillRect/>
          </a:stretch>
        </p:blipFill>
        <p:spPr>
          <a:xfrm>
            <a:off x="689428" y="1289397"/>
            <a:ext cx="10813143" cy="4707376"/>
          </a:xfrm>
          <a:prstGeom prst="rect">
            <a:avLst/>
          </a:prstGeom>
        </p:spPr>
      </p:pic>
      <p:sp>
        <p:nvSpPr>
          <p:cNvPr id="3" name="TextBox 2">
            <a:extLst>
              <a:ext uri="{FF2B5EF4-FFF2-40B4-BE49-F238E27FC236}">
                <a16:creationId xmlns:a16="http://schemas.microsoft.com/office/drawing/2014/main" id="{7AF50B71-A37C-947A-D53E-5DE0EA948256}"/>
              </a:ext>
            </a:extLst>
          </p:cNvPr>
          <p:cNvSpPr txBox="1"/>
          <p:nvPr/>
        </p:nvSpPr>
        <p:spPr>
          <a:xfrm>
            <a:off x="697053" y="522790"/>
            <a:ext cx="40855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Progress map-</a:t>
            </a:r>
            <a:r>
              <a:rPr lang="en-US" sz="2000" b="1"/>
              <a:t> </a:t>
            </a:r>
          </a:p>
        </p:txBody>
      </p:sp>
    </p:spTree>
    <p:extLst>
      <p:ext uri="{BB962C8B-B14F-4D97-AF65-F5344CB8AC3E}">
        <p14:creationId xmlns:p14="http://schemas.microsoft.com/office/powerpoint/2010/main" val="628986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3" name="Picture 2">
            <a:extLst>
              <a:ext uri="{FF2B5EF4-FFF2-40B4-BE49-F238E27FC236}">
                <a16:creationId xmlns:a16="http://schemas.microsoft.com/office/drawing/2014/main" id="{3DE7DF0B-2820-AABE-5509-F049E78AD16C}"/>
              </a:ext>
            </a:extLst>
          </p:cNvPr>
          <p:cNvPicPr>
            <a:picLocks noChangeAspect="1"/>
          </p:cNvPicPr>
          <p:nvPr/>
        </p:nvPicPr>
        <p:blipFill>
          <a:blip r:embed="rId3"/>
          <a:stretch>
            <a:fillRect/>
          </a:stretch>
        </p:blipFill>
        <p:spPr>
          <a:xfrm>
            <a:off x="689428" y="1010375"/>
            <a:ext cx="10813143" cy="53452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3" name="Picture 2" descr="A screenshot of a computer&#10;&#10;AI-generated content may be incorrect.">
            <a:extLst>
              <a:ext uri="{FF2B5EF4-FFF2-40B4-BE49-F238E27FC236}">
                <a16:creationId xmlns:a16="http://schemas.microsoft.com/office/drawing/2014/main" id="{C1D4585D-2C05-283C-B4DC-DFD6B5BAF187}"/>
              </a:ext>
            </a:extLst>
          </p:cNvPr>
          <p:cNvPicPr>
            <a:picLocks noChangeAspect="1"/>
          </p:cNvPicPr>
          <p:nvPr/>
        </p:nvPicPr>
        <p:blipFill>
          <a:blip r:embed="rId3"/>
          <a:stretch>
            <a:fillRect/>
          </a:stretch>
        </p:blipFill>
        <p:spPr>
          <a:xfrm>
            <a:off x="420915" y="1013641"/>
            <a:ext cx="11342915" cy="519357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5392792"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rPr>
              <a:t>Testing Screenshot:</a:t>
            </a:r>
            <a:endParaRPr lang="en-US"/>
          </a:p>
          <a:p>
            <a:pPr algn="ctr"/>
            <a:endParaRPr lang="en-US"/>
          </a:p>
        </p:txBody>
      </p:sp>
      <p:pic>
        <p:nvPicPr>
          <p:cNvPr id="2" name="Picture 1" descr="A screenshot of a computer">
            <a:extLst>
              <a:ext uri="{FF2B5EF4-FFF2-40B4-BE49-F238E27FC236}">
                <a16:creationId xmlns:a16="http://schemas.microsoft.com/office/drawing/2014/main" id="{9A009380-BBB6-244E-2F12-E0202A78BB0D}"/>
              </a:ext>
            </a:extLst>
          </p:cNvPr>
          <p:cNvPicPr>
            <a:picLocks noChangeAspect="1"/>
          </p:cNvPicPr>
          <p:nvPr/>
        </p:nvPicPr>
        <p:blipFill>
          <a:blip r:embed="rId2"/>
          <a:stretch>
            <a:fillRect/>
          </a:stretch>
        </p:blipFill>
        <p:spPr>
          <a:xfrm>
            <a:off x="551543" y="883557"/>
            <a:ext cx="11081658" cy="5511800"/>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486A67-FD99-E9C6-93B0-0F26C3543F84}"/>
              </a:ext>
            </a:extLst>
          </p:cNvPr>
          <p:cNvSpPr txBox="1"/>
          <p:nvPr/>
        </p:nvSpPr>
        <p:spPr>
          <a:xfrm>
            <a:off x="247031" y="231591"/>
            <a:ext cx="11224460" cy="66325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dirty="0"/>
              <a:t>How IBM </a:t>
            </a:r>
            <a:r>
              <a:rPr lang="en-US" sz="2000" b="1" dirty="0" err="1"/>
              <a:t>BoB</a:t>
            </a:r>
            <a:r>
              <a:rPr lang="en-US" sz="2000" b="1" dirty="0"/>
              <a:t> was Used</a:t>
            </a:r>
            <a:endParaRPr lang="en-US" sz="2000" dirty="0"/>
          </a:p>
          <a:p>
            <a:pPr marL="285750" indent="-285750">
              <a:lnSpc>
                <a:spcPct val="150000"/>
              </a:lnSpc>
              <a:buChar char="•"/>
            </a:pPr>
            <a:r>
              <a:rPr lang="en-US" sz="2000" dirty="0"/>
              <a:t>Generated the complete frontend and backend of the </a:t>
            </a:r>
            <a:r>
              <a:rPr lang="en-US" sz="2000" b="1" dirty="0" err="1"/>
              <a:t>BreastCare</a:t>
            </a:r>
            <a:r>
              <a:rPr lang="en-US" sz="2000" b="1" dirty="0"/>
              <a:t> AI</a:t>
            </a:r>
            <a:r>
              <a:rPr lang="en-US" sz="2000" dirty="0"/>
              <a:t> web application. </a:t>
            </a:r>
          </a:p>
          <a:p>
            <a:pPr marL="285750" indent="-285750">
              <a:lnSpc>
                <a:spcPct val="150000"/>
              </a:lnSpc>
              <a:buChar char="•"/>
            </a:pPr>
            <a:r>
              <a:rPr lang="en-US" sz="2000"/>
              <a:t>Built a modern, responsive interface with animations, interactive dashboards, and prediction pages. </a:t>
            </a:r>
            <a:endParaRPr lang="en-US" sz="2000" dirty="0"/>
          </a:p>
          <a:p>
            <a:pPr marL="285750" indent="-285750">
              <a:lnSpc>
                <a:spcPct val="150000"/>
              </a:lnSpc>
              <a:buChar char="•"/>
            </a:pPr>
            <a:r>
              <a:rPr lang="en-US" sz="2000" dirty="0"/>
              <a:t>Integrated the deployed IBM </a:t>
            </a:r>
            <a:r>
              <a:rPr lang="en-US" sz="2000" dirty="0" err="1"/>
              <a:t>AutoAI</a:t>
            </a:r>
            <a:r>
              <a:rPr lang="en-US" sz="2000" dirty="0"/>
              <a:t> machine learning model into the application. </a:t>
            </a:r>
          </a:p>
          <a:p>
            <a:pPr marL="285750" indent="-285750">
              <a:lnSpc>
                <a:spcPct val="150000"/>
              </a:lnSpc>
              <a:buChar char="•"/>
            </a:pPr>
            <a:r>
              <a:rPr lang="en-US" sz="2000"/>
              <a:t>Enabled users to receive </a:t>
            </a:r>
            <a:r>
              <a:rPr lang="en-US" sz="2000" b="1"/>
              <a:t>real-time breast cancer predictions</a:t>
            </a:r>
            <a:r>
              <a:rPr lang="en-US" sz="2000"/>
              <a:t> with confidence scores through an intuitive interface. </a:t>
            </a:r>
            <a:endParaRPr lang="en-US" sz="2000" dirty="0"/>
          </a:p>
          <a:p>
            <a:pPr>
              <a:lnSpc>
                <a:spcPct val="150000"/>
              </a:lnSpc>
            </a:pPr>
            <a:br>
              <a:rPr lang="en-US" dirty="0"/>
            </a:br>
            <a:r>
              <a:rPr lang="en-US" sz="2000" b="1" dirty="0"/>
              <a:t>Connecting </a:t>
            </a:r>
            <a:r>
              <a:rPr lang="en-US" sz="2000" b="1" dirty="0" err="1"/>
              <a:t>AutoAI</a:t>
            </a:r>
            <a:r>
              <a:rPr lang="en-US" sz="2000" b="1" dirty="0"/>
              <a:t> with IBM </a:t>
            </a:r>
            <a:r>
              <a:rPr lang="en-US" sz="2000" b="1" dirty="0" err="1"/>
              <a:t>BoB</a:t>
            </a:r>
            <a:endParaRPr lang="en-US" sz="2000" dirty="0"/>
          </a:p>
          <a:p>
            <a:pPr marL="285750" indent="-285750">
              <a:lnSpc>
                <a:spcPct val="150000"/>
              </a:lnSpc>
              <a:buChar char="•"/>
            </a:pPr>
            <a:r>
              <a:rPr lang="en-US" sz="2000" dirty="0"/>
              <a:t>Trained and deployed the best </a:t>
            </a:r>
            <a:r>
              <a:rPr lang="en-US" sz="2000" dirty="0" err="1"/>
              <a:t>AutoAI</a:t>
            </a:r>
            <a:r>
              <a:rPr lang="en-US" sz="2000" dirty="0"/>
              <a:t> model on </a:t>
            </a:r>
            <a:r>
              <a:rPr lang="en-US" sz="2000" b="1" dirty="0"/>
              <a:t>IBM Watson Machine Learning</a:t>
            </a:r>
            <a:r>
              <a:rPr lang="en-US" sz="2000" dirty="0"/>
              <a:t>. </a:t>
            </a:r>
          </a:p>
          <a:p>
            <a:pPr marL="285750" indent="-285750">
              <a:lnSpc>
                <a:spcPct val="150000"/>
              </a:lnSpc>
              <a:buChar char="•"/>
            </a:pPr>
            <a:r>
              <a:rPr lang="en-US" sz="2000"/>
              <a:t>Added the </a:t>
            </a:r>
            <a:r>
              <a:rPr lang="en-US" sz="2000" b="1"/>
              <a:t>IBM API Key</a:t>
            </a:r>
            <a:r>
              <a:rPr lang="en-US" sz="2000"/>
              <a:t>, </a:t>
            </a:r>
            <a:r>
              <a:rPr lang="en-US" sz="2000" b="1"/>
              <a:t>IBM WML URL</a:t>
            </a:r>
            <a:r>
              <a:rPr lang="en-US" sz="2000"/>
              <a:t>, </a:t>
            </a:r>
            <a:r>
              <a:rPr lang="en-US" sz="2000" b="1"/>
              <a:t>Deployment Space ID</a:t>
            </a:r>
            <a:r>
              <a:rPr lang="en-US" sz="2000"/>
              <a:t>, and </a:t>
            </a:r>
            <a:r>
              <a:rPr lang="en-US" sz="2000" b="1"/>
              <a:t>Deployment ID</a:t>
            </a:r>
            <a:r>
              <a:rPr lang="en-US" sz="2000"/>
              <a:t> in the .env file. </a:t>
            </a:r>
            <a:endParaRPr lang="en-US" sz="2000" dirty="0"/>
          </a:p>
          <a:p>
            <a:pPr marL="285750" indent="-285750">
              <a:lnSpc>
                <a:spcPct val="150000"/>
              </a:lnSpc>
              <a:buChar char="•"/>
            </a:pPr>
            <a:r>
              <a:rPr lang="en-US" sz="2000"/>
              <a:t>Used the Watson Machine Learning API to connect the deployed model with the Flask application. </a:t>
            </a:r>
            <a:endParaRPr lang="en-US" sz="2000" dirty="0"/>
          </a:p>
          <a:p>
            <a:endParaRPr lang="en-US" b="1" dirty="0"/>
          </a:p>
        </p:txBody>
      </p:sp>
    </p:spTree>
    <p:extLst>
      <p:ext uri="{BB962C8B-B14F-4D97-AF65-F5344CB8AC3E}">
        <p14:creationId xmlns:p14="http://schemas.microsoft.com/office/powerpoint/2010/main" val="2663101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96D1F-5BBD-54B3-B8BE-7571BE7E318B}"/>
              </a:ext>
            </a:extLst>
          </p:cNvPr>
          <p:cNvSpPr txBox="1"/>
          <p:nvPr/>
        </p:nvSpPr>
        <p:spPr>
          <a:xfrm>
            <a:off x="216151" y="169833"/>
            <a:ext cx="11703083" cy="86177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Char char="•"/>
            </a:pPr>
            <a:r>
              <a:rPr lang="en-US" sz="2000"/>
              <a:t>User inputs are sent to the deployed model, and the prediction results are displayed instantly on the website.</a:t>
            </a:r>
            <a:endParaRPr lang="en-US"/>
          </a:p>
          <a:p>
            <a:pPr>
              <a:lnSpc>
                <a:spcPct val="150000"/>
              </a:lnSpc>
              <a:buChar char="•"/>
            </a:pPr>
            <a:r>
              <a:rPr lang="en-US" sz="2000"/>
              <a:t>    Get the Required IDs</a:t>
            </a:r>
            <a:endParaRPr lang="en-US" sz="2000" dirty="0"/>
          </a:p>
          <a:p>
            <a:pPr>
              <a:lnSpc>
                <a:spcPct val="150000"/>
              </a:lnSpc>
            </a:pPr>
            <a:r>
              <a:rPr lang="en-US" sz="2000" b="1"/>
              <a:t>     IBM API Key</a:t>
            </a:r>
            <a:r>
              <a:rPr lang="en-US" sz="2000"/>
              <a:t> → Generated from IBM Cloud IAM. </a:t>
            </a:r>
          </a:p>
          <a:p>
            <a:pPr>
              <a:lnSpc>
                <a:spcPct val="150000"/>
              </a:lnSpc>
            </a:pPr>
            <a:r>
              <a:rPr lang="en-US" sz="2000" b="1"/>
              <a:t>     Deployment Space ID</a:t>
            </a:r>
            <a:r>
              <a:rPr lang="en-US" sz="2000"/>
              <a:t> → Copied from the Deployment Space. </a:t>
            </a:r>
          </a:p>
          <a:p>
            <a:pPr>
              <a:lnSpc>
                <a:spcPct val="150000"/>
              </a:lnSpc>
            </a:pPr>
            <a:r>
              <a:rPr lang="en-US" sz="2000" b="1" dirty="0"/>
              <a:t>     Deployment ID</a:t>
            </a:r>
            <a:r>
              <a:rPr lang="en-US" sz="2000" dirty="0"/>
              <a:t> → Copied from the deployed </a:t>
            </a:r>
            <a:r>
              <a:rPr lang="en-US" sz="2000" dirty="0" err="1"/>
              <a:t>AutoAI</a:t>
            </a:r>
            <a:r>
              <a:rPr lang="en-US" sz="2000" dirty="0"/>
              <a:t> model. </a:t>
            </a:r>
            <a:endParaRPr lang="en-US" sz="2000"/>
          </a:p>
          <a:p>
            <a:pPr>
              <a:lnSpc>
                <a:spcPct val="150000"/>
              </a:lnSpc>
            </a:pPr>
            <a:r>
              <a:rPr lang="en-US" sz="2000" b="1"/>
              <a:t>     IBM WML URL</a:t>
            </a:r>
            <a:r>
              <a:rPr lang="en-US" sz="2000"/>
              <a:t> → Region endpoint (Sydney: </a:t>
            </a:r>
            <a:r>
              <a:rPr lang="en-US" sz="2000" dirty="0">
                <a:hlinkClick r:id="rId2"/>
              </a:rPr>
              <a:t>https://au-syd.ml.cloud.ibm.com</a:t>
            </a:r>
            <a:r>
              <a:rPr lang="en-US" sz="2000" dirty="0"/>
              <a:t>).</a:t>
            </a:r>
            <a:endParaRPr lang="en-US" sz="2000"/>
          </a:p>
          <a:p>
            <a:pPr marL="285750" indent="-285750">
              <a:lnSpc>
                <a:spcPct val="150000"/>
              </a:lnSpc>
              <a:buChar char="•"/>
            </a:pPr>
            <a:r>
              <a:rPr lang="en-US" sz="2000"/>
              <a:t>Create the .env File</a:t>
            </a:r>
          </a:p>
          <a:p>
            <a:pPr>
              <a:lnSpc>
                <a:spcPct val="150000"/>
              </a:lnSpc>
            </a:pPr>
            <a:r>
              <a:rPr lang="en-US" sz="2000" dirty="0"/>
              <a:t>     Copy the </a:t>
            </a:r>
            <a:r>
              <a:rPr lang="en-US" sz="2000" b="1" dirty="0"/>
              <a:t>.</a:t>
            </a:r>
            <a:r>
              <a:rPr lang="en-US" sz="2000" b="1" dirty="0" err="1"/>
              <a:t>env.example</a:t>
            </a:r>
            <a:r>
              <a:rPr lang="en-US" sz="2000" dirty="0"/>
              <a:t> file and rename it to </a:t>
            </a:r>
            <a:r>
              <a:rPr lang="en-US" sz="2000" b="1" dirty="0"/>
              <a:t>.env</a:t>
            </a:r>
            <a:r>
              <a:rPr lang="en-US" sz="2000" dirty="0"/>
              <a:t>. </a:t>
            </a:r>
          </a:p>
          <a:p>
            <a:pPr>
              <a:lnSpc>
                <a:spcPct val="150000"/>
              </a:lnSpc>
            </a:pPr>
            <a:r>
              <a:rPr lang="en-US" sz="2000"/>
              <a:t>     Fill in the required IBM Cloud credentials such as </a:t>
            </a:r>
            <a:r>
              <a:rPr lang="en-US" sz="2000" b="1"/>
              <a:t>API Key</a:t>
            </a:r>
            <a:r>
              <a:rPr lang="en-US" sz="2000"/>
              <a:t>, </a:t>
            </a:r>
            <a:r>
              <a:rPr lang="en-US" sz="2000" b="1"/>
              <a:t>Space ID</a:t>
            </a:r>
            <a:r>
              <a:rPr lang="en-US" sz="2000"/>
              <a:t>, </a:t>
            </a:r>
            <a:r>
              <a:rPr lang="en-US" sz="2000" b="1"/>
              <a:t>Deployment ID</a:t>
            </a:r>
            <a:r>
              <a:rPr lang="en-US" sz="2000"/>
              <a:t>, and </a:t>
            </a:r>
            <a:r>
              <a:rPr lang="en-US" sz="2000" b="1"/>
              <a:t>WML URL</a:t>
            </a:r>
            <a:r>
              <a:rPr lang="en-US" sz="2000" dirty="0"/>
              <a:t>. </a:t>
            </a:r>
          </a:p>
          <a:p>
            <a:pPr marL="342900" indent="-342900">
              <a:lnSpc>
                <a:spcPct val="150000"/>
              </a:lnSpc>
              <a:buChar char="•"/>
            </a:pPr>
            <a:r>
              <a:rPr lang="en-US" sz="2000"/>
              <a:t>Run the Application</a:t>
            </a:r>
          </a:p>
          <a:p>
            <a:pPr>
              <a:lnSpc>
                <a:spcPct val="150000"/>
              </a:lnSpc>
            </a:pPr>
            <a:r>
              <a:rPr lang="en-US" sz="2000"/>
              <a:t>     Install the required dependencies using </a:t>
            </a:r>
            <a:r>
              <a:rPr lang="en-US" sz="2000" b="1"/>
              <a:t>requirements.txt</a:t>
            </a:r>
            <a:r>
              <a:rPr lang="en-US" sz="2000"/>
              <a:t> and run </a:t>
            </a:r>
            <a:r>
              <a:rPr lang="en-US" sz="2000" b="1"/>
              <a:t>python app.py</a:t>
            </a:r>
            <a:r>
              <a:rPr lang="en-US" sz="2000" dirty="0"/>
              <a:t>. </a:t>
            </a:r>
          </a:p>
          <a:p>
            <a:pPr>
              <a:lnSpc>
                <a:spcPct val="150000"/>
              </a:lnSpc>
            </a:pPr>
            <a:endParaRPr lang="en-US" sz="2000" dirty="0"/>
          </a:p>
          <a:p>
            <a:pPr>
              <a:lnSpc>
                <a:spcPct val="150000"/>
              </a:lnSpc>
            </a:pPr>
            <a:endParaRPr lang="en-US" sz="2000" dirty="0"/>
          </a:p>
          <a:p>
            <a:pPr marL="342900" indent="-342900">
              <a:lnSpc>
                <a:spcPct val="150000"/>
              </a:lnSpc>
              <a:buChar char="•"/>
            </a:pPr>
            <a:endParaRPr lang="en-US" sz="2000" dirty="0"/>
          </a:p>
          <a:p>
            <a:pPr>
              <a:lnSpc>
                <a:spcPct val="150000"/>
              </a:lnSpc>
            </a:pPr>
            <a:endParaRPr lang="en-US" sz="2000" dirty="0"/>
          </a:p>
          <a:p>
            <a:pPr>
              <a:lnSpc>
                <a:spcPct val="150000"/>
              </a:lnSpc>
            </a:pPr>
            <a:endParaRPr lang="en-US" sz="2000" dirty="0"/>
          </a:p>
          <a:p>
            <a:endParaRPr lang="en-US" dirty="0"/>
          </a:p>
        </p:txBody>
      </p:sp>
    </p:spTree>
    <p:extLst>
      <p:ext uri="{BB962C8B-B14F-4D97-AF65-F5344CB8AC3E}">
        <p14:creationId xmlns:p14="http://schemas.microsoft.com/office/powerpoint/2010/main" val="1595019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9CDD98-5253-EA76-E013-E7E4EBE547DE}"/>
              </a:ext>
            </a:extLst>
          </p:cNvPr>
          <p:cNvSpPr txBox="1"/>
          <p:nvPr/>
        </p:nvSpPr>
        <p:spPr>
          <a:xfrm>
            <a:off x="445340" y="372829"/>
            <a:ext cx="89648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IBM Bob Prompt-</a:t>
            </a:r>
            <a:r>
              <a:rPr lang="en-US" b="1"/>
              <a:t> </a:t>
            </a:r>
          </a:p>
        </p:txBody>
      </p:sp>
      <p:sp>
        <p:nvSpPr>
          <p:cNvPr id="3" name="TextBox 2">
            <a:extLst>
              <a:ext uri="{FF2B5EF4-FFF2-40B4-BE49-F238E27FC236}">
                <a16:creationId xmlns:a16="http://schemas.microsoft.com/office/drawing/2014/main" id="{3E2AB1BC-CCDD-D763-5218-32D7F19926DE}"/>
              </a:ext>
            </a:extLst>
          </p:cNvPr>
          <p:cNvSpPr txBox="1"/>
          <p:nvPr/>
        </p:nvSpPr>
        <p:spPr>
          <a:xfrm>
            <a:off x="444967" y="1008066"/>
            <a:ext cx="11218154" cy="68218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dirty="0"/>
              <a:t>Create an AI-powered Breast Cancer Prevention and Risk Prediction web application using Python Flask, IBM Cloud, and IBM </a:t>
            </a:r>
            <a:r>
              <a:rPr lang="en-US" sz="2000" dirty="0" err="1"/>
              <a:t>AutoAI</a:t>
            </a:r>
            <a:r>
              <a:rPr lang="en-US" sz="2000" dirty="0"/>
              <a:t>. Use the Breast Cancer Wisconsin Diagnosis dataset, where the target/output column is diagnosis, with M meaning Malignant and B meaning Benign. Exclude id and Unnamed: 32 from model training.</a:t>
            </a:r>
            <a:endParaRPr lang="en-US"/>
          </a:p>
          <a:p>
            <a:pPr>
              <a:lnSpc>
                <a:spcPct val="150000"/>
              </a:lnSpc>
            </a:pPr>
            <a:r>
              <a:rPr lang="en-US" sz="2000" dirty="0"/>
              <a:t>Build a responsive healthcare-focused frontend where users can enter tumor cell measurement values and receive an ML-based prediction result from the </a:t>
            </a:r>
            <a:r>
              <a:rPr lang="en-US" sz="2000" dirty="0" err="1"/>
              <a:t>AutoAI</a:t>
            </a:r>
            <a:r>
              <a:rPr lang="en-US" sz="2000" dirty="0"/>
              <a:t> model. The website should show whether the case is predicted as Benign or Malignant, along with confidence/probability if available.</a:t>
            </a:r>
          </a:p>
          <a:p>
            <a:pPr>
              <a:lnSpc>
                <a:spcPct val="150000"/>
              </a:lnSpc>
            </a:pPr>
            <a:r>
              <a:rPr lang="en-US" sz="2000"/>
              <a:t>Add a dashboard explaining key features such as radius, texture, perimeter, area, smoothness, compactness, concavity, symmetry, and fractal dimension. Include prevention awareness sections, early detection tips, risk factors, and a disclaimer that this tool is for educational purposes only and not a medical diagnosis.</a:t>
            </a:r>
            <a:endParaRPr lang="en-US" sz="2000" dirty="0"/>
          </a:p>
          <a:p>
            <a:pPr>
              <a:lnSpc>
                <a:spcPct val="150000"/>
              </a:lnSpc>
            </a:pPr>
            <a:br>
              <a:rPr lang="en-US" dirty="0"/>
            </a:br>
            <a:endParaRPr lang="en-US" sz="2000" dirty="0"/>
          </a:p>
          <a:p>
            <a:pPr>
              <a:lnSpc>
                <a:spcPct val="150000"/>
              </a:lnSpc>
            </a:pPr>
            <a:endParaRPr lang="en-US" sz="2000" dirty="0"/>
          </a:p>
        </p:txBody>
      </p:sp>
    </p:spTree>
    <p:extLst>
      <p:ext uri="{BB962C8B-B14F-4D97-AF65-F5344CB8AC3E}">
        <p14:creationId xmlns:p14="http://schemas.microsoft.com/office/powerpoint/2010/main" val="2801110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BDBAC-650B-6123-7648-9C592B28F526}"/>
              </a:ext>
            </a:extLst>
          </p:cNvPr>
          <p:cNvSpPr txBox="1"/>
          <p:nvPr/>
        </p:nvSpPr>
        <p:spPr>
          <a:xfrm>
            <a:off x="290150" y="290150"/>
            <a:ext cx="11486533" cy="3266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ct val="150000"/>
              </a:lnSpc>
            </a:pPr>
            <a:r>
              <a:rPr lang="en-US" sz="2000" b="0" i="0" u="none" strike="noStrike" baseline="0" dirty="0">
                <a:solidFill>
                  <a:srgbClr val="000000"/>
                </a:solidFill>
                <a:latin typeface="Arial"/>
              </a:rPr>
              <a:t>Integrate IBM Cloud and </a:t>
            </a:r>
            <a:r>
              <a:rPr lang="en-US" sz="2000" b="0" i="0" u="none" strike="noStrike" baseline="0" dirty="0" err="1">
                <a:solidFill>
                  <a:srgbClr val="000000"/>
                </a:solidFill>
                <a:latin typeface="Arial"/>
              </a:rPr>
              <a:t>AutoAI</a:t>
            </a:r>
            <a:r>
              <a:rPr lang="en-US" sz="2000" b="0" i="0" u="none" strike="noStrike" baseline="0" dirty="0">
                <a:solidFill>
                  <a:srgbClr val="000000"/>
                </a:solidFill>
                <a:latin typeface="Arial"/>
              </a:rPr>
              <a:t> deployment securely using a .env file for API keys, deployment endpoint, project/space ID, and model credentials. Generate complete backend code, frontend templates, CSS, JavaScript, requirements.txt, .</a:t>
            </a:r>
            <a:r>
              <a:rPr lang="en-US" sz="2000" b="0" i="0" u="none" strike="noStrike" baseline="0" dirty="0" err="1">
                <a:solidFill>
                  <a:srgbClr val="000000"/>
                </a:solidFill>
                <a:latin typeface="Arial"/>
              </a:rPr>
              <a:t>env.example</a:t>
            </a:r>
            <a:r>
              <a:rPr lang="en-US" sz="2000" b="0" i="0" u="none" strike="noStrike" baseline="0" dirty="0">
                <a:solidFill>
                  <a:srgbClr val="000000"/>
                </a:solidFill>
                <a:latin typeface="Arial"/>
              </a:rPr>
              <a:t>, README.md, and deployment instructions.</a:t>
            </a:r>
            <a:r>
              <a:rPr lang="en-US" sz="2000" b="0" i="0" dirty="0">
                <a:latin typeface="Arial"/>
              </a:rPr>
              <a:t>​</a:t>
            </a:r>
            <a:endParaRPr lang="en-US" sz="2000" b="0" i="0">
              <a:latin typeface="Arial"/>
            </a:endParaRPr>
          </a:p>
          <a:p>
            <a:pPr algn="l" rtl="0">
              <a:lnSpc>
                <a:spcPct val="150000"/>
              </a:lnSpc>
            </a:pPr>
            <a:r>
              <a:rPr lang="en-US" sz="2000" b="0" i="0">
                <a:latin typeface="Arial"/>
              </a:rPr>
              <a:t>​</a:t>
            </a:r>
            <a:r>
              <a:rPr lang="en-US" sz="2000" b="0" i="0" u="none" strike="noStrike" baseline="0">
                <a:solidFill>
                  <a:srgbClr val="000000"/>
                </a:solidFill>
                <a:latin typeface="Arial"/>
              </a:rPr>
              <a:t>Use modern UI design with Bootstrap, animations, cards, charts, dark mode, mobile responsiveness, </a:t>
            </a:r>
            <a:r>
              <a:rPr lang="en-US" sz="2000" b="0" i="0" u="none" strike="noStrike" baseline="0" dirty="0">
                <a:solidFill>
                  <a:srgbClr val="000000"/>
                </a:solidFill>
                <a:latin typeface="Arial"/>
              </a:rPr>
              <a:t>and a clean medical theme. Add proper error handling, form validation, prediction history, and clear user-friendly explanations of the ML result.</a:t>
            </a:r>
            <a:r>
              <a:rPr lang="en-US" sz="2000" b="0" i="0" dirty="0">
                <a:latin typeface="Arial"/>
              </a:rPr>
              <a:t>​</a:t>
            </a:r>
            <a:endParaRPr lang="en-US" sz="2000" dirty="0"/>
          </a:p>
        </p:txBody>
      </p:sp>
    </p:spTree>
    <p:extLst>
      <p:ext uri="{BB962C8B-B14F-4D97-AF65-F5344CB8AC3E}">
        <p14:creationId xmlns:p14="http://schemas.microsoft.com/office/powerpoint/2010/main" val="3020367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7FE177-0F13-3091-36C5-84645FE63ABF}"/>
              </a:ext>
            </a:extLst>
          </p:cNvPr>
          <p:cNvSpPr txBox="1"/>
          <p:nvPr/>
        </p:nvSpPr>
        <p:spPr>
          <a:xfrm>
            <a:off x="153608" y="170676"/>
            <a:ext cx="117084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IBM BOB TO-DO TASKS- </a:t>
            </a:r>
          </a:p>
        </p:txBody>
      </p:sp>
      <p:pic>
        <p:nvPicPr>
          <p:cNvPr id="4" name="Picture 3" descr="A screenshot of a computer&#10;&#10;AI-generated content may be incorrect.">
            <a:extLst>
              <a:ext uri="{FF2B5EF4-FFF2-40B4-BE49-F238E27FC236}">
                <a16:creationId xmlns:a16="http://schemas.microsoft.com/office/drawing/2014/main" id="{4BACCD35-B4A4-368C-AE1A-E5E60DD7418E}"/>
              </a:ext>
            </a:extLst>
          </p:cNvPr>
          <p:cNvPicPr>
            <a:picLocks noChangeAspect="1"/>
          </p:cNvPicPr>
          <p:nvPr/>
        </p:nvPicPr>
        <p:blipFill>
          <a:blip r:embed="rId2"/>
          <a:stretch>
            <a:fillRect/>
          </a:stretch>
        </p:blipFill>
        <p:spPr>
          <a:xfrm>
            <a:off x="1240971" y="1102476"/>
            <a:ext cx="9535886" cy="4965104"/>
          </a:xfrm>
          <a:prstGeom prst="rect">
            <a:avLst/>
          </a:prstGeom>
        </p:spPr>
      </p:pic>
    </p:spTree>
    <p:extLst>
      <p:ext uri="{BB962C8B-B14F-4D97-AF65-F5344CB8AC3E}">
        <p14:creationId xmlns:p14="http://schemas.microsoft.com/office/powerpoint/2010/main" val="3289104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432C6F-B55A-9A5F-016E-543AB8A203F4}"/>
              </a:ext>
            </a:extLst>
          </p:cNvPr>
          <p:cNvSpPr txBox="1"/>
          <p:nvPr/>
        </p:nvSpPr>
        <p:spPr>
          <a:xfrm>
            <a:off x="308788" y="387547"/>
            <a:ext cx="605225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Web Page Images (Screenshots)</a:t>
            </a:r>
          </a:p>
        </p:txBody>
      </p:sp>
      <p:pic>
        <p:nvPicPr>
          <p:cNvPr id="3" name="Picture 2" descr="A screenshot of a computer&#10;&#10;AI-generated content may be incorrect.">
            <a:extLst>
              <a:ext uri="{FF2B5EF4-FFF2-40B4-BE49-F238E27FC236}">
                <a16:creationId xmlns:a16="http://schemas.microsoft.com/office/drawing/2014/main" id="{52DAB463-59EF-2B7F-C91C-4721DA68A790}"/>
              </a:ext>
            </a:extLst>
          </p:cNvPr>
          <p:cNvPicPr>
            <a:picLocks noChangeAspect="1"/>
          </p:cNvPicPr>
          <p:nvPr/>
        </p:nvPicPr>
        <p:blipFill>
          <a:blip r:embed="rId2"/>
          <a:stretch>
            <a:fillRect/>
          </a:stretch>
        </p:blipFill>
        <p:spPr>
          <a:xfrm>
            <a:off x="718457" y="1180193"/>
            <a:ext cx="10755086" cy="4940300"/>
          </a:xfrm>
          <a:prstGeom prst="rect">
            <a:avLst/>
          </a:prstGeom>
        </p:spPr>
      </p:pic>
    </p:spTree>
    <p:extLst>
      <p:ext uri="{BB962C8B-B14F-4D97-AF65-F5344CB8AC3E}">
        <p14:creationId xmlns:p14="http://schemas.microsoft.com/office/powerpoint/2010/main" val="3778505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B5B8D368-C160-ED50-C14A-A2F007BFBD42}"/>
              </a:ext>
            </a:extLst>
          </p:cNvPr>
          <p:cNvPicPr>
            <a:picLocks noChangeAspect="1"/>
          </p:cNvPicPr>
          <p:nvPr/>
        </p:nvPicPr>
        <p:blipFill>
          <a:blip r:embed="rId2"/>
          <a:stretch>
            <a:fillRect/>
          </a:stretch>
        </p:blipFill>
        <p:spPr>
          <a:xfrm>
            <a:off x="478971" y="752747"/>
            <a:ext cx="11241315" cy="5134792"/>
          </a:xfrm>
          <a:prstGeom prst="rect">
            <a:avLst/>
          </a:prstGeom>
        </p:spPr>
      </p:pic>
    </p:spTree>
    <p:extLst>
      <p:ext uri="{BB962C8B-B14F-4D97-AF65-F5344CB8AC3E}">
        <p14:creationId xmlns:p14="http://schemas.microsoft.com/office/powerpoint/2010/main" val="2037540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99D9DBAE-B2FC-0264-40CB-97485E9B0380}"/>
              </a:ext>
            </a:extLst>
          </p:cNvPr>
          <p:cNvPicPr>
            <a:picLocks noChangeAspect="1"/>
          </p:cNvPicPr>
          <p:nvPr/>
        </p:nvPicPr>
        <p:blipFill>
          <a:blip r:embed="rId2"/>
          <a:stretch>
            <a:fillRect/>
          </a:stretch>
        </p:blipFill>
        <p:spPr>
          <a:xfrm>
            <a:off x="486228" y="1011645"/>
            <a:ext cx="11219543" cy="4515395"/>
          </a:xfrm>
          <a:prstGeom prst="rect">
            <a:avLst/>
          </a:prstGeom>
        </p:spPr>
      </p:pic>
    </p:spTree>
    <p:extLst>
      <p:ext uri="{BB962C8B-B14F-4D97-AF65-F5344CB8AC3E}">
        <p14:creationId xmlns:p14="http://schemas.microsoft.com/office/powerpoint/2010/main" val="3955666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video game&#10;&#10;AI-generated content may be incorrect.">
            <a:extLst>
              <a:ext uri="{FF2B5EF4-FFF2-40B4-BE49-F238E27FC236}">
                <a16:creationId xmlns:a16="http://schemas.microsoft.com/office/drawing/2014/main" id="{29ECAED8-ECBA-2642-53FF-5856E75D10E9}"/>
              </a:ext>
            </a:extLst>
          </p:cNvPr>
          <p:cNvPicPr>
            <a:picLocks noChangeAspect="1"/>
          </p:cNvPicPr>
          <p:nvPr/>
        </p:nvPicPr>
        <p:blipFill>
          <a:blip r:embed="rId2"/>
          <a:stretch>
            <a:fillRect/>
          </a:stretch>
        </p:blipFill>
        <p:spPr>
          <a:xfrm>
            <a:off x="457200" y="1000578"/>
            <a:ext cx="11277600" cy="4544786"/>
          </a:xfrm>
          <a:prstGeom prst="rect">
            <a:avLst/>
          </a:prstGeom>
        </p:spPr>
      </p:pic>
    </p:spTree>
    <p:extLst>
      <p:ext uri="{BB962C8B-B14F-4D97-AF65-F5344CB8AC3E}">
        <p14:creationId xmlns:p14="http://schemas.microsoft.com/office/powerpoint/2010/main" val="1509127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F85B37C1-F390-4BC1-EED6-9975372840E5}"/>
              </a:ext>
            </a:extLst>
          </p:cNvPr>
          <p:cNvPicPr>
            <a:picLocks noChangeAspect="1"/>
          </p:cNvPicPr>
          <p:nvPr/>
        </p:nvPicPr>
        <p:blipFill>
          <a:blip r:embed="rId2"/>
          <a:stretch>
            <a:fillRect/>
          </a:stretch>
        </p:blipFill>
        <p:spPr>
          <a:xfrm>
            <a:off x="384628" y="993321"/>
            <a:ext cx="11422743" cy="4602843"/>
          </a:xfrm>
          <a:prstGeom prst="rect">
            <a:avLst/>
          </a:prstGeom>
        </p:spPr>
      </p:pic>
    </p:spTree>
    <p:extLst>
      <p:ext uri="{BB962C8B-B14F-4D97-AF65-F5344CB8AC3E}">
        <p14:creationId xmlns:p14="http://schemas.microsoft.com/office/powerpoint/2010/main" val="663858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medical information&#10;&#10;AI-generated content may be incorrect.">
            <a:extLst>
              <a:ext uri="{FF2B5EF4-FFF2-40B4-BE49-F238E27FC236}">
                <a16:creationId xmlns:a16="http://schemas.microsoft.com/office/drawing/2014/main" id="{D7B7C045-4CF4-7DC7-8694-7FEB1FA30E72}"/>
              </a:ext>
            </a:extLst>
          </p:cNvPr>
          <p:cNvPicPr>
            <a:picLocks noChangeAspect="1"/>
          </p:cNvPicPr>
          <p:nvPr/>
        </p:nvPicPr>
        <p:blipFill>
          <a:blip r:embed="rId2"/>
          <a:stretch>
            <a:fillRect/>
          </a:stretch>
        </p:blipFill>
        <p:spPr>
          <a:xfrm>
            <a:off x="283029" y="713014"/>
            <a:ext cx="11633200" cy="4728029"/>
          </a:xfrm>
          <a:prstGeom prst="rect">
            <a:avLst/>
          </a:prstGeom>
        </p:spPr>
      </p:pic>
    </p:spTree>
    <p:extLst>
      <p:ext uri="{BB962C8B-B14F-4D97-AF65-F5344CB8AC3E}">
        <p14:creationId xmlns:p14="http://schemas.microsoft.com/office/powerpoint/2010/main" val="1384249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BDB59D77-72CA-941F-FD82-0DF8C9BC04A6}"/>
              </a:ext>
            </a:extLst>
          </p:cNvPr>
          <p:cNvPicPr>
            <a:picLocks noChangeAspect="1"/>
          </p:cNvPicPr>
          <p:nvPr/>
        </p:nvPicPr>
        <p:blipFill>
          <a:blip r:embed="rId2"/>
          <a:stretch>
            <a:fillRect/>
          </a:stretch>
        </p:blipFill>
        <p:spPr>
          <a:xfrm>
            <a:off x="384628" y="953226"/>
            <a:ext cx="11422743" cy="4610463"/>
          </a:xfrm>
          <a:prstGeom prst="rect">
            <a:avLst/>
          </a:prstGeom>
        </p:spPr>
      </p:pic>
    </p:spTree>
    <p:extLst>
      <p:ext uri="{BB962C8B-B14F-4D97-AF65-F5344CB8AC3E}">
        <p14:creationId xmlns:p14="http://schemas.microsoft.com/office/powerpoint/2010/main" val="2008165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77278DC6-A170-D633-EAF2-25B8A09D24AA}"/>
              </a:ext>
            </a:extLst>
          </p:cNvPr>
          <p:cNvPicPr>
            <a:picLocks noChangeAspect="1"/>
          </p:cNvPicPr>
          <p:nvPr/>
        </p:nvPicPr>
        <p:blipFill>
          <a:blip r:embed="rId2"/>
          <a:stretch>
            <a:fillRect/>
          </a:stretch>
        </p:blipFill>
        <p:spPr>
          <a:xfrm>
            <a:off x="529771" y="905691"/>
            <a:ext cx="11400972" cy="5046618"/>
          </a:xfrm>
          <a:prstGeom prst="rect">
            <a:avLst/>
          </a:prstGeom>
        </p:spPr>
      </p:pic>
    </p:spTree>
    <p:extLst>
      <p:ext uri="{BB962C8B-B14F-4D97-AF65-F5344CB8AC3E}">
        <p14:creationId xmlns:p14="http://schemas.microsoft.com/office/powerpoint/2010/main" val="92188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CDD7CD57-88A4-AF62-A599-BB2C97AF95F2}"/>
              </a:ext>
            </a:extLst>
          </p:cNvPr>
          <p:cNvPicPr>
            <a:picLocks noChangeAspect="1"/>
          </p:cNvPicPr>
          <p:nvPr/>
        </p:nvPicPr>
        <p:blipFill>
          <a:blip r:embed="rId2"/>
          <a:stretch>
            <a:fillRect/>
          </a:stretch>
        </p:blipFill>
        <p:spPr>
          <a:xfrm>
            <a:off x="268514" y="988604"/>
            <a:ext cx="11654972" cy="4597763"/>
          </a:xfrm>
          <a:prstGeom prst="rect">
            <a:avLst/>
          </a:prstGeom>
        </p:spPr>
      </p:pic>
    </p:spTree>
    <p:extLst>
      <p:ext uri="{BB962C8B-B14F-4D97-AF65-F5344CB8AC3E}">
        <p14:creationId xmlns:p14="http://schemas.microsoft.com/office/powerpoint/2010/main" val="2590892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851C9423-DC97-7191-FF80-F9F66F304332}"/>
              </a:ext>
            </a:extLst>
          </p:cNvPr>
          <p:cNvPicPr>
            <a:picLocks noChangeAspect="1"/>
          </p:cNvPicPr>
          <p:nvPr/>
        </p:nvPicPr>
        <p:blipFill>
          <a:blip r:embed="rId2"/>
          <a:stretch>
            <a:fillRect/>
          </a:stretch>
        </p:blipFill>
        <p:spPr>
          <a:xfrm>
            <a:off x="616857" y="868861"/>
            <a:ext cx="11205029" cy="5120278"/>
          </a:xfrm>
          <a:prstGeom prst="rect">
            <a:avLst/>
          </a:prstGeom>
        </p:spPr>
      </p:pic>
    </p:spTree>
    <p:extLst>
      <p:ext uri="{BB962C8B-B14F-4D97-AF65-F5344CB8AC3E}">
        <p14:creationId xmlns:p14="http://schemas.microsoft.com/office/powerpoint/2010/main" val="3071930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test&#10;&#10;AI-generated content may be incorrect.">
            <a:extLst>
              <a:ext uri="{FF2B5EF4-FFF2-40B4-BE49-F238E27FC236}">
                <a16:creationId xmlns:a16="http://schemas.microsoft.com/office/drawing/2014/main" id="{D163D35D-4A4C-333B-3B43-52027BE5969E}"/>
              </a:ext>
            </a:extLst>
          </p:cNvPr>
          <p:cNvPicPr>
            <a:picLocks noChangeAspect="1"/>
          </p:cNvPicPr>
          <p:nvPr/>
        </p:nvPicPr>
        <p:blipFill>
          <a:blip r:embed="rId2"/>
          <a:stretch>
            <a:fillRect/>
          </a:stretch>
        </p:blipFill>
        <p:spPr>
          <a:xfrm>
            <a:off x="457200" y="858520"/>
            <a:ext cx="11277600" cy="5133703"/>
          </a:xfrm>
          <a:prstGeom prst="rect">
            <a:avLst/>
          </a:prstGeom>
        </p:spPr>
      </p:pic>
      <p:sp>
        <p:nvSpPr>
          <p:cNvPr id="3" name="TextBox 2">
            <a:extLst>
              <a:ext uri="{FF2B5EF4-FFF2-40B4-BE49-F238E27FC236}">
                <a16:creationId xmlns:a16="http://schemas.microsoft.com/office/drawing/2014/main" id="{DFD97606-93A0-A43D-49A1-97CDD8067BE9}"/>
              </a:ext>
            </a:extLst>
          </p:cNvPr>
          <p:cNvSpPr txBox="1"/>
          <p:nvPr/>
        </p:nvSpPr>
        <p:spPr>
          <a:xfrm>
            <a:off x="641198" y="307720"/>
            <a:ext cx="48171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Light mode</a:t>
            </a:r>
          </a:p>
        </p:txBody>
      </p:sp>
    </p:spTree>
    <p:extLst>
      <p:ext uri="{BB962C8B-B14F-4D97-AF65-F5344CB8AC3E}">
        <p14:creationId xmlns:p14="http://schemas.microsoft.com/office/powerpoint/2010/main" val="213201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98151"/>
            <a:ext cx="10769628" cy="6186309"/>
          </a:xfrm>
          <a:prstGeom prst="rect">
            <a:avLst/>
          </a:prstGeom>
          <a:noFill/>
        </p:spPr>
        <p:txBody>
          <a:bodyPr wrap="square" lIns="91440" tIns="45720" rIns="91440" bIns="45720" rtlCol="0" anchor="t">
            <a:spAutoFit/>
          </a:bodyPr>
          <a:lstStyle/>
          <a:p>
            <a:pPr>
              <a:lnSpc>
                <a:spcPct val="150000"/>
              </a:lnSpc>
              <a:buChar char="•"/>
            </a:pPr>
            <a:r>
              <a:rPr lang="en-IN" sz="2000" dirty="0"/>
              <a:t>Developed an AI-powered </a:t>
            </a:r>
            <a:r>
              <a:rPr lang="en-IN" sz="2000" b="1" dirty="0"/>
              <a:t>Breast Cancer Prediction</a:t>
            </a:r>
            <a:r>
              <a:rPr lang="en-IN" sz="2000" dirty="0"/>
              <a:t> system using </a:t>
            </a:r>
            <a:r>
              <a:rPr lang="en-IN" sz="2000" b="1" dirty="0"/>
              <a:t>IBM Cloud, IBM </a:t>
            </a:r>
            <a:r>
              <a:rPr lang="en-IN" sz="2000" b="1" dirty="0" err="1"/>
              <a:t>AutoAI</a:t>
            </a:r>
            <a:r>
              <a:rPr lang="en-IN" sz="2000" b="1" dirty="0"/>
              <a:t>, and IBM </a:t>
            </a:r>
            <a:r>
              <a:rPr lang="en-IN" sz="2000" b="1" dirty="0" err="1"/>
              <a:t>watsonx</a:t>
            </a:r>
            <a:r>
              <a:rPr lang="en-IN" sz="2000" b="1" dirty="0"/>
              <a:t> </a:t>
            </a:r>
            <a:r>
              <a:rPr lang="en-IN" sz="2000" b="1" dirty="0" err="1"/>
              <a:t>BoB</a:t>
            </a:r>
            <a:r>
              <a:rPr lang="en-IN" sz="2000" dirty="0"/>
              <a:t>. </a:t>
            </a:r>
            <a:endParaRPr lang="en-US" sz="2000" dirty="0"/>
          </a:p>
          <a:p>
            <a:pPr>
              <a:lnSpc>
                <a:spcPct val="150000"/>
              </a:lnSpc>
              <a:buChar char="•"/>
            </a:pPr>
            <a:r>
              <a:rPr lang="en-IN" sz="2000" dirty="0"/>
              <a:t>Utilizes </a:t>
            </a:r>
            <a:r>
              <a:rPr lang="en-IN" sz="2000" b="1" dirty="0"/>
              <a:t>IBM </a:t>
            </a:r>
            <a:r>
              <a:rPr lang="en-IN" sz="2000" b="1" dirty="0" err="1"/>
              <a:t>AutoAI</a:t>
            </a:r>
            <a:r>
              <a:rPr lang="en-IN" sz="2000" dirty="0"/>
              <a:t> to automatically preprocess data, optimize hyperparameters, and select the best-performing machine learning model. </a:t>
            </a:r>
          </a:p>
          <a:p>
            <a:pPr>
              <a:lnSpc>
                <a:spcPct val="150000"/>
              </a:lnSpc>
              <a:buChar char="•"/>
            </a:pPr>
            <a:r>
              <a:rPr lang="en-IN" sz="2000"/>
              <a:t>Delivers </a:t>
            </a:r>
            <a:r>
              <a:rPr lang="en-IN" sz="2000" b="1"/>
              <a:t>real-time predictions</a:t>
            </a:r>
            <a:r>
              <a:rPr lang="en-IN" sz="2000"/>
              <a:t> with confidence scores through a modern, responsive, and user-friendly web interface. </a:t>
            </a:r>
            <a:endParaRPr lang="en-IN" sz="2000" dirty="0"/>
          </a:p>
          <a:p>
            <a:pPr>
              <a:lnSpc>
                <a:spcPct val="150000"/>
              </a:lnSpc>
              <a:buChar char="•"/>
            </a:pPr>
            <a:r>
              <a:rPr lang="en-IN" sz="2000"/>
              <a:t>Includes </a:t>
            </a:r>
            <a:r>
              <a:rPr lang="en-IN" sz="2000" b="1"/>
              <a:t>interactive dashboards, radar chart visualizations, and prediction history</a:t>
            </a:r>
            <a:r>
              <a:rPr lang="en-IN" sz="2000"/>
              <a:t> to enhance user understanding and experience. </a:t>
            </a:r>
            <a:endParaRPr lang="en-IN" sz="2000" dirty="0"/>
          </a:p>
          <a:p>
            <a:pPr>
              <a:lnSpc>
                <a:spcPct val="150000"/>
              </a:lnSpc>
              <a:buChar char="•"/>
            </a:pPr>
            <a:r>
              <a:rPr lang="en-IN" sz="2000"/>
              <a:t>Promotes breast cancer awareness by providing </a:t>
            </a:r>
            <a:r>
              <a:rPr lang="en-IN" sz="2000" b="1"/>
              <a:t>prevention tips, risk factors, and educational information</a:t>
            </a:r>
            <a:r>
              <a:rPr lang="en-IN" sz="2000"/>
              <a:t> alongside predictions. </a:t>
            </a:r>
            <a:endParaRPr lang="en-IN" sz="2000" dirty="0"/>
          </a:p>
          <a:p>
            <a:pPr>
              <a:lnSpc>
                <a:spcPct val="150000"/>
              </a:lnSpc>
              <a:buChar char="•"/>
            </a:pPr>
            <a:r>
              <a:rPr lang="en-IN" sz="2000"/>
              <a:t>Demonstrates a complete </a:t>
            </a:r>
            <a:r>
              <a:rPr lang="en-IN" sz="2000" b="1"/>
              <a:t>end-to-end AI solution</a:t>
            </a:r>
            <a:r>
              <a:rPr lang="en-IN" sz="2000"/>
              <a:t>, from dataset upload and model deployment on IBM Cloud to a fully integrated intelligent web application.</a:t>
            </a:r>
          </a:p>
          <a:p>
            <a:pPr marL="285750" indent="-285750">
              <a:buChar char="•"/>
            </a:pPr>
            <a:endParaRPr lang="en-IN" sz="1800" dirty="0"/>
          </a:p>
          <a:p>
            <a:endParaRPr lang="en-IN" sz="1800" b="1"/>
          </a:p>
        </p:txBody>
      </p:sp>
    </p:spTree>
    <p:extLst>
      <p:ext uri="{BB962C8B-B14F-4D97-AF65-F5344CB8AC3E}">
        <p14:creationId xmlns:p14="http://schemas.microsoft.com/office/powerpoint/2010/main" val="917964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a:lnSpc>
                <a:spcPct val="162162"/>
              </a:lnSpc>
              <a:spcBef>
                <a:spcPts val="0"/>
              </a:spcBef>
              <a:spcAft>
                <a:spcPts val="0"/>
              </a:spcAft>
              <a:buNone/>
            </a:pPr>
            <a:r>
              <a:rPr lang="en-US" sz="1850" dirty="0">
                <a:hlinkClick r:id="rId3"/>
              </a:rPr>
              <a:t>https://github.com/lakshmisatwika28-lang/Breast-Cancer-Prediction-AutoAI.git</a:t>
            </a:r>
            <a:endParaRPr lang="en-US"/>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7372"/>
            <a:ext cx="9214580" cy="4277001"/>
          </a:xfrm>
          <a:prstGeom prst="rect">
            <a:avLst/>
          </a:prstGeom>
          <a:noFill/>
          <a:ln>
            <a:noFill/>
          </a:ln>
        </p:spPr>
        <p:txBody>
          <a:bodyPr spcFirstLastPara="1" wrap="square" lIns="0" tIns="0" rIns="0" bIns="0" anchor="t" anchorCtr="0">
            <a:noAutofit/>
          </a:bodyPr>
          <a:lstStyle/>
          <a:p>
            <a:pPr>
              <a:lnSpc>
                <a:spcPct val="150000"/>
              </a:lnSpc>
              <a:buFont typeface="Arial"/>
              <a:buChar char="•"/>
            </a:pPr>
            <a:r>
              <a:rPr lang="en-US" sz="2000">
                <a:solidFill>
                  <a:srgbClr val="2B3541"/>
                </a:solidFill>
              </a:rPr>
              <a:t>Assist healthcare professionals by providing </a:t>
            </a:r>
            <a:r>
              <a:rPr lang="en-US" sz="2000" b="1">
                <a:solidFill>
                  <a:srgbClr val="2B3541"/>
                </a:solidFill>
              </a:rPr>
              <a:t>quick and reliable preliminary breast cancer predictions</a:t>
            </a:r>
            <a:r>
              <a:rPr lang="en-US" sz="2000">
                <a:solidFill>
                  <a:srgbClr val="2B3541"/>
                </a:solidFill>
              </a:rPr>
              <a:t>, reducing diagnostic time. </a:t>
            </a:r>
            <a:endParaRPr lang="en-US" sz="2000"/>
          </a:p>
          <a:p>
            <a:pPr>
              <a:lnSpc>
                <a:spcPct val="150000"/>
              </a:lnSpc>
              <a:buFont typeface="Arial"/>
              <a:buChar char="•"/>
            </a:pPr>
            <a:r>
              <a:rPr lang="en-US" sz="2000">
                <a:solidFill>
                  <a:srgbClr val="2B3541"/>
                </a:solidFill>
              </a:rPr>
              <a:t>Promote </a:t>
            </a:r>
            <a:r>
              <a:rPr lang="en-US" sz="2000" b="1">
                <a:solidFill>
                  <a:srgbClr val="2B3541"/>
                </a:solidFill>
              </a:rPr>
              <a:t>early detection and timely medical intervention</a:t>
            </a:r>
            <a:r>
              <a:rPr lang="en-US" sz="2000">
                <a:solidFill>
                  <a:srgbClr val="2B3541"/>
                </a:solidFill>
              </a:rPr>
              <a:t>, improving treatment success rates and patient survival. </a:t>
            </a:r>
            <a:endParaRPr lang="en-US" sz="2000"/>
          </a:p>
          <a:p>
            <a:pPr>
              <a:lnSpc>
                <a:spcPct val="150000"/>
              </a:lnSpc>
              <a:buFont typeface="Arial"/>
              <a:buChar char="•"/>
            </a:pPr>
            <a:r>
              <a:rPr lang="en-US" sz="2000">
                <a:solidFill>
                  <a:srgbClr val="2B3541"/>
                </a:solidFill>
              </a:rPr>
              <a:t>Increase </a:t>
            </a:r>
            <a:r>
              <a:rPr lang="en-US" sz="2000" b="1">
                <a:solidFill>
                  <a:srgbClr val="2B3541"/>
                </a:solidFill>
              </a:rPr>
              <a:t>breast cancer awareness</a:t>
            </a:r>
            <a:r>
              <a:rPr lang="en-US" sz="2000">
                <a:solidFill>
                  <a:srgbClr val="2B3541"/>
                </a:solidFill>
              </a:rPr>
              <a:t> by educating users about risk factors, symptoms, and preventive measures. </a:t>
            </a:r>
            <a:endParaRPr lang="en-US" sz="2000"/>
          </a:p>
          <a:p>
            <a:pPr>
              <a:lnSpc>
                <a:spcPct val="150000"/>
              </a:lnSpc>
              <a:buFont typeface="Arial"/>
              <a:buChar char="•"/>
            </a:pPr>
            <a:r>
              <a:rPr lang="en-US" sz="2000">
                <a:solidFill>
                  <a:srgbClr val="2B3541"/>
                </a:solidFill>
              </a:rPr>
              <a:t>Be integrated into </a:t>
            </a:r>
            <a:r>
              <a:rPr lang="en-US" sz="2000" b="1">
                <a:solidFill>
                  <a:srgbClr val="2B3541"/>
                </a:solidFill>
              </a:rPr>
              <a:t>hospitals, diagnostic centers, and healthcare systems</a:t>
            </a:r>
            <a:r>
              <a:rPr lang="en-US" sz="2000">
                <a:solidFill>
                  <a:srgbClr val="2B3541"/>
                </a:solidFill>
              </a:rPr>
              <a:t> as an AI-assisted decision support tool. </a:t>
            </a:r>
            <a:endParaRPr lang="en-US" sz="2000"/>
          </a:p>
          <a:p>
            <a:pPr>
              <a:lnSpc>
                <a:spcPct val="150000"/>
              </a:lnSpc>
              <a:buFont typeface="Arial"/>
              <a:buChar char="•"/>
            </a:pPr>
            <a:r>
              <a:rPr lang="en-US" sz="2000">
                <a:solidFill>
                  <a:srgbClr val="2B3541"/>
                </a:solidFill>
              </a:rPr>
              <a:t>Improve healthcare accessibility by enabling </a:t>
            </a:r>
            <a:r>
              <a:rPr lang="en-US" sz="2000" b="1">
                <a:solidFill>
                  <a:srgbClr val="2B3541"/>
                </a:solidFill>
              </a:rPr>
              <a:t>remote breast cancer risk assessment</a:t>
            </a:r>
            <a:r>
              <a:rPr lang="en-US" sz="2000">
                <a:solidFill>
                  <a:srgbClr val="2B3541"/>
                </a:solidFill>
              </a:rPr>
              <a:t>, especially for people in rural and underserved areas. </a:t>
            </a:r>
            <a:endParaRPr lang="en-US" sz="2000"/>
          </a:p>
          <a:p>
            <a:pPr>
              <a:lnSpc>
                <a:spcPct val="150000"/>
              </a:lnSpc>
              <a:buFont typeface="Arial"/>
              <a:buChar char="•"/>
            </a:pPr>
            <a:r>
              <a:rPr lang="en-US" sz="2000">
                <a:solidFill>
                  <a:srgbClr val="2B3541"/>
                </a:solidFill>
              </a:rPr>
              <a:t>Support doctors by acting as a </a:t>
            </a:r>
            <a:r>
              <a:rPr lang="en-US" sz="2000" b="1">
                <a:solidFill>
                  <a:srgbClr val="2B3541"/>
                </a:solidFill>
              </a:rPr>
              <a:t>clinical decision-support system</a:t>
            </a:r>
            <a:r>
              <a:rPr lang="en-US" sz="2000">
                <a:solidFill>
                  <a:srgbClr val="2B3541"/>
                </a:solidFill>
              </a:rPr>
              <a:t>, reducing  </a:t>
            </a:r>
            <a:endParaRPr lang="en-US" sz="2000"/>
          </a:p>
          <a:p>
            <a:pPr marL="285750" indent="-285750">
              <a:lnSpc>
                <a:spcPct val="150000"/>
              </a:lnSpc>
              <a:buFont typeface="Arial"/>
              <a:buChar char="•"/>
            </a:pPr>
            <a:endParaRPr lang="en-US" sz="1850" dirty="0">
              <a:solidFill>
                <a:srgbClr val="2B3541"/>
              </a:solidFill>
            </a:endParaRPr>
          </a:p>
          <a:p>
            <a:pPr marL="0" marR="0" lvl="0" indent="0" algn="l">
              <a:lnSpc>
                <a:spcPct val="150000"/>
              </a:lnSpc>
              <a:spcBef>
                <a:spcPts val="0"/>
              </a:spcBef>
              <a:spcAft>
                <a:spcPts val="0"/>
              </a:spcAft>
              <a:buSzPts val="1850"/>
              <a:buFont typeface="Times New Roman"/>
              <a:buNone/>
            </a:pPr>
            <a:endParaRPr lang="en-US" sz="1850" b="1">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0A5436-28E0-E58C-12FD-233FBF3F3968}"/>
              </a:ext>
            </a:extLst>
          </p:cNvPr>
          <p:cNvSpPr txBox="1"/>
          <p:nvPr/>
        </p:nvSpPr>
        <p:spPr>
          <a:xfrm>
            <a:off x="212595" y="589966"/>
            <a:ext cx="11533249"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a:solidFill>
                  <a:srgbClr val="2B3541"/>
                </a:solidFill>
              </a:rPr>
              <a:t>    manual effort and assisting in data-driven diagnosis.</a:t>
            </a:r>
            <a:endParaRPr lang="en-US" sz="2000" dirty="0">
              <a:solidFill>
                <a:srgbClr val="2B3541"/>
              </a:solidFill>
            </a:endParaRPr>
          </a:p>
          <a:p>
            <a:pPr marL="285750" indent="-285750">
              <a:lnSpc>
                <a:spcPct val="150000"/>
              </a:lnSpc>
              <a:buFont typeface="Arial,Sans-Serif"/>
              <a:buChar char="•"/>
            </a:pPr>
            <a:r>
              <a:rPr lang="en-US" sz="2000">
                <a:solidFill>
                  <a:srgbClr val="2B3541"/>
                </a:solidFill>
              </a:rPr>
              <a:t>Expand into a comprehensive healthcare platform capable of predicting </a:t>
            </a:r>
            <a:r>
              <a:rPr lang="en-US" sz="2000" b="1">
                <a:solidFill>
                  <a:srgbClr val="2B3541"/>
                </a:solidFill>
              </a:rPr>
              <a:t>multiple diseases</a:t>
            </a:r>
            <a:r>
              <a:rPr lang="en-US" sz="2000">
                <a:solidFill>
                  <a:srgbClr val="2B3541"/>
                </a:solidFill>
              </a:rPr>
              <a:t> using advanced AI and machine learning models. </a:t>
            </a:r>
            <a:endParaRPr lang="en-US" sz="2000"/>
          </a:p>
          <a:p>
            <a:pPr marL="285750" indent="-285750">
              <a:lnSpc>
                <a:spcPct val="150000"/>
              </a:lnSpc>
              <a:buFont typeface="Arial,Sans-Serif"/>
              <a:buChar char="•"/>
            </a:pPr>
            <a:r>
              <a:rPr lang="en-US" sz="2000">
                <a:solidFill>
                  <a:srgbClr val="2B3541"/>
                </a:solidFill>
              </a:rPr>
              <a:t>Contribute to the advancement of </a:t>
            </a:r>
            <a:r>
              <a:rPr lang="en-US" sz="2000" b="1">
                <a:solidFill>
                  <a:srgbClr val="2B3541"/>
                </a:solidFill>
              </a:rPr>
              <a:t>AI-powered healthcare</a:t>
            </a:r>
            <a:r>
              <a:rPr lang="en-US" sz="2000">
                <a:solidFill>
                  <a:srgbClr val="2B3541"/>
                </a:solidFill>
              </a:rPr>
              <a:t>, making medical screening faster, more accurate, and accessible to a larger population.</a:t>
            </a:r>
            <a:endParaRPr lang="en-US" sz="2000"/>
          </a:p>
          <a:p>
            <a:pPr algn="l"/>
            <a:endParaRPr lang="en-US" dirty="0"/>
          </a:p>
        </p:txBody>
      </p:sp>
    </p:spTree>
    <p:extLst>
      <p:ext uri="{BB962C8B-B14F-4D97-AF65-F5344CB8AC3E}">
        <p14:creationId xmlns:p14="http://schemas.microsoft.com/office/powerpoint/2010/main" val="215885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7" name="Picture 6" descr="A certificate with a qr code&#10;&#10;AI-generated content may be incorrect.">
            <a:extLst>
              <a:ext uri="{FF2B5EF4-FFF2-40B4-BE49-F238E27FC236}">
                <a16:creationId xmlns:a16="http://schemas.microsoft.com/office/drawing/2014/main" id="{86464E18-A2F6-A8B6-B4C0-3EECFECB44FC}"/>
              </a:ext>
            </a:extLst>
          </p:cNvPr>
          <p:cNvPicPr>
            <a:picLocks noChangeAspect="1"/>
          </p:cNvPicPr>
          <p:nvPr/>
        </p:nvPicPr>
        <p:blipFill>
          <a:blip r:embed="rId2"/>
          <a:stretch>
            <a:fillRect/>
          </a:stretch>
        </p:blipFill>
        <p:spPr>
          <a:xfrm>
            <a:off x="2210292" y="1132114"/>
            <a:ext cx="6791700" cy="529771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white certificate&#10;&#10;AI-generated content may be incorrect.">
            <a:extLst>
              <a:ext uri="{FF2B5EF4-FFF2-40B4-BE49-F238E27FC236}">
                <a16:creationId xmlns:a16="http://schemas.microsoft.com/office/drawing/2014/main" id="{B09B109C-AC07-4467-184A-1FB066460B18}"/>
              </a:ext>
            </a:extLst>
          </p:cNvPr>
          <p:cNvPicPr>
            <a:picLocks noChangeAspect="1"/>
          </p:cNvPicPr>
          <p:nvPr/>
        </p:nvPicPr>
        <p:blipFill>
          <a:blip r:embed="rId2"/>
          <a:stretch>
            <a:fillRect/>
          </a:stretch>
        </p:blipFill>
        <p:spPr>
          <a:xfrm>
            <a:off x="1920873" y="457199"/>
            <a:ext cx="8067223" cy="6248401"/>
          </a:xfrm>
          <a:prstGeom prst="rect">
            <a:avLst/>
          </a:prstGeom>
        </p:spPr>
      </p:pic>
    </p:spTree>
    <p:extLst>
      <p:ext uri="{BB962C8B-B14F-4D97-AF65-F5344CB8AC3E}">
        <p14:creationId xmlns:p14="http://schemas.microsoft.com/office/powerpoint/2010/main" val="2955813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white certificate&#10;&#10;AI-generated content may be incorrect.">
            <a:extLst>
              <a:ext uri="{FF2B5EF4-FFF2-40B4-BE49-F238E27FC236}">
                <a16:creationId xmlns:a16="http://schemas.microsoft.com/office/drawing/2014/main" id="{62A547E9-076A-5CFD-0DD4-60E01BDC59F3}"/>
              </a:ext>
            </a:extLst>
          </p:cNvPr>
          <p:cNvPicPr>
            <a:picLocks noChangeAspect="1"/>
          </p:cNvPicPr>
          <p:nvPr/>
        </p:nvPicPr>
        <p:blipFill>
          <a:blip r:embed="rId2"/>
          <a:stretch>
            <a:fillRect/>
          </a:stretch>
        </p:blipFill>
        <p:spPr>
          <a:xfrm>
            <a:off x="2149044" y="486228"/>
            <a:ext cx="7893912" cy="6139543"/>
          </a:xfrm>
          <a:prstGeom prst="rect">
            <a:avLst/>
          </a:prstGeom>
        </p:spPr>
      </p:pic>
    </p:spTree>
    <p:extLst>
      <p:ext uri="{BB962C8B-B14F-4D97-AF65-F5344CB8AC3E}">
        <p14:creationId xmlns:p14="http://schemas.microsoft.com/office/powerpoint/2010/main" val="1914235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 computer program&#10;&#10;AI-generated content may be incorrect.">
            <a:extLst>
              <a:ext uri="{FF2B5EF4-FFF2-40B4-BE49-F238E27FC236}">
                <a16:creationId xmlns:a16="http://schemas.microsoft.com/office/drawing/2014/main" id="{330BC7DD-F8E1-2235-C50A-826971171391}"/>
              </a:ext>
            </a:extLst>
          </p:cNvPr>
          <p:cNvPicPr>
            <a:picLocks noChangeAspect="1"/>
          </p:cNvPicPr>
          <p:nvPr/>
        </p:nvPicPr>
        <p:blipFill>
          <a:blip r:embed="rId2"/>
          <a:stretch>
            <a:fillRect/>
          </a:stretch>
        </p:blipFill>
        <p:spPr>
          <a:xfrm>
            <a:off x="1907429" y="711200"/>
            <a:ext cx="8529541" cy="5885543"/>
          </a:xfrm>
          <a:prstGeom prst="rect">
            <a:avLst/>
          </a:prstGeom>
        </p:spPr>
      </p:pic>
    </p:spTree>
    <p:extLst>
      <p:ext uri="{BB962C8B-B14F-4D97-AF65-F5344CB8AC3E}">
        <p14:creationId xmlns:p14="http://schemas.microsoft.com/office/powerpoint/2010/main" val="90113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 software development&#10;&#10;AI-generated content may be incorrect.">
            <a:extLst>
              <a:ext uri="{FF2B5EF4-FFF2-40B4-BE49-F238E27FC236}">
                <a16:creationId xmlns:a16="http://schemas.microsoft.com/office/drawing/2014/main" id="{E162EE6A-D6BD-0F15-6E46-02EF67490FFE}"/>
              </a:ext>
            </a:extLst>
          </p:cNvPr>
          <p:cNvPicPr>
            <a:picLocks noChangeAspect="1"/>
          </p:cNvPicPr>
          <p:nvPr/>
        </p:nvPicPr>
        <p:blipFill>
          <a:blip r:embed="rId2"/>
          <a:stretch>
            <a:fillRect/>
          </a:stretch>
        </p:blipFill>
        <p:spPr>
          <a:xfrm>
            <a:off x="1215571" y="311829"/>
            <a:ext cx="9760858" cy="6241597"/>
          </a:xfrm>
          <a:prstGeom prst="rect">
            <a:avLst/>
          </a:prstGeom>
        </p:spPr>
      </p:pic>
    </p:spTree>
    <p:extLst>
      <p:ext uri="{BB962C8B-B14F-4D97-AF65-F5344CB8AC3E}">
        <p14:creationId xmlns:p14="http://schemas.microsoft.com/office/powerpoint/2010/main" val="2895150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 software development program&#10;&#10;AI-generated content may be incorrect.">
            <a:extLst>
              <a:ext uri="{FF2B5EF4-FFF2-40B4-BE49-F238E27FC236}">
                <a16:creationId xmlns:a16="http://schemas.microsoft.com/office/drawing/2014/main" id="{8EA1456D-0DBB-4C95-4C08-754CA02458BD}"/>
              </a:ext>
            </a:extLst>
          </p:cNvPr>
          <p:cNvPicPr>
            <a:picLocks noChangeAspect="1"/>
          </p:cNvPicPr>
          <p:nvPr/>
        </p:nvPicPr>
        <p:blipFill>
          <a:blip r:embed="rId2"/>
          <a:stretch>
            <a:fillRect/>
          </a:stretch>
        </p:blipFill>
        <p:spPr>
          <a:xfrm>
            <a:off x="1269320" y="418192"/>
            <a:ext cx="9660618" cy="602161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11</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253</cp:revision>
  <dcterms:created xsi:type="dcterms:W3CDTF">2025-07-08T05:06:56Z</dcterms:created>
  <dcterms:modified xsi:type="dcterms:W3CDTF">2026-07-08T13:11:36Z</dcterms:modified>
</cp:coreProperties>
</file>